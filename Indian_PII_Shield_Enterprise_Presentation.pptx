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998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🛡️  INDIAN-PII SHIELD  |  ENTERPRISE SECURITY PLATFORM</a:t>
            </a:r>
          </a:p>
          <a:p>
            <a:pPr>
              <a:spcBef>
                <a:spcPts val="1000"/>
              </a:spcBef>
              <a:defRPr sz="3200" b="1">
                <a:solidFill>
                  <a:srgbClr val="F1F5F9"/>
                </a:solidFill>
              </a:defRPr>
            </a:pPr>
            <a:r>
              <a:t>Zero-Leakage Sovereign Privacy Gateway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An on-premises, OpenAI-compatible proxy and security observability dashboard engineered to detect, redact, and securely restore Indian sovereign PII before prompt egress to external LLMs.</a:t>
            </a:r>
          </a:p>
          <a:p>
            <a:pPr>
              <a:spcBef>
                <a:spcPts val="700"/>
              </a:spcBef>
              <a:defRPr sz="1200" b="1">
                <a:solidFill>
                  <a:srgbClr val="34D399"/>
                </a:solidFill>
              </a:defRPr>
            </a:pPr>
            <a:r>
              <a:t>✓  Cryptographic Checksums: Verhoeff algorithm for 12-digit Aadhaar &amp; Modulo-36 for 15-character GSTIN</a:t>
            </a:r>
          </a:p>
          <a:p>
            <a:pPr>
              <a:spcBef>
                <a:spcPts val="700"/>
              </a:spcBef>
              <a:defRPr sz="1200" b="1">
                <a:solidFill>
                  <a:srgbClr val="34D399"/>
                </a:solidFill>
              </a:defRPr>
            </a:pPr>
            <a:r>
              <a:t>✓  Ephemeral Salt Mapping: Salted tokens (&lt;PAN_1&gt;) restored in memory; 0 raw PII persisted to disk</a:t>
            </a:r>
          </a:p>
          <a:p>
            <a:pPr>
              <a:spcBef>
                <a:spcPts val="700"/>
              </a:spcBef>
              <a:defRPr sz="1200" b="1">
                <a:solidFill>
                  <a:srgbClr val="34D399"/>
                </a:solidFill>
              </a:defRPr>
            </a:pPr>
            <a:r>
              <a:t>✓  Fail-Closed Protection: Gateway blocks unauthorized prompt transmission if detection pipeline fails</a:t>
            </a:r>
          </a:p>
          <a:p>
            <a:pPr>
              <a:spcBef>
                <a:spcPts val="700"/>
              </a:spcBef>
              <a:defRPr sz="1200" b="1">
                <a:solidFill>
                  <a:srgbClr val="34D399"/>
                </a:solidFill>
              </a:defRPr>
            </a:pPr>
            <a:r>
              <a:t>✓  Linear / Vercel Security UI: Real-time telemetry, live redaction sandbox &amp; regression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INDIAN-PII SHIELD  •  PROBLEM &amp; COMPLIANCE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Why Generic Redaction Fails for Indian Enterprise Data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Presidio and Western privacy tools lack mathematical checksums and Hinglish contextual awareness.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151E2D"/>
          </a:solidFill>
          <a:ln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02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Regulatory Mandate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LEGAL RISK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Digital Personal Data Protection (DPDP) Act 2023 imposes penalties up to ₹250 Crores for unauthorized PII transfer.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Indian banking, healthcare, and telecom enterprises face strict data residency mandates.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Sending unredacted customer prompts to OpenAI/Claude violates regulatory sovereignty.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Technical Deficiencies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DETECTION GAP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Generic 12-digit regex causes false alarms on order IDs, tracking numbers, and invoice codes.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GSTIN requires Modulo-36 check digits over state codes and corporate PAN numbers.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Indian names and colloquial landmarks appear in mixed Hinglish speech with honorifics (Shri, Smt, Ji).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51E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The Shield Solution</a:t>
            </a:r>
          </a:p>
          <a:p>
            <a:pPr>
              <a:spcBef>
                <a:spcPts val="200"/>
              </a:spcBef>
              <a:defRPr sz="900" b="1">
                <a:solidFill>
                  <a:srgbClr val="22D3EE"/>
                </a:solidFill>
              </a:defRPr>
            </a:pPr>
            <a:r>
              <a:t>PRODUCTION VERDICT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Sub-5ms on-premise proxy requiring zero LLM model retraining or code alterations.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100% structured recall on Aadhaar, PAN, and GSTIN through mathematical checksum verification.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Cryptographic protection boundary ensuring data never leaves customer VPCs.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INDIAN-PII SHIELD  • 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Zero-Leakage Request &amp; Response Pipeline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How prompts are sanitized on inbound transit and transparently restored on outbound reply.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151E2D"/>
          </a:solidFill>
          <a:ln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03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1. Inbound Ingestion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STAGE 1: GATEWAY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Client sends standard OpenAI payload to proxy (/v1/chat/completions).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FastAPI gateway applies CORS, loopback verification, and Bearer token auth.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Fail-Closed Check: If detection subsystem fails, request is immediately blocked.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2. Two-Stage Detection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STAGE 2: REDACTION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Stage A (Deterministic): Regex + Verhoeff (Aadhaar), Modulo-36 (GSTIN), PAN, Phone, UPI.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Stage B (Contextual): Gazetteer &amp; sliding n-gram window for Hinglish names and addresses.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Ephemeral Salted Token Generation: Sensitive entity replaced with &lt;AADHAAR_1&gt;.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51E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3. Forward &amp; Restore</a:t>
            </a:r>
          </a:p>
          <a:p>
            <a:pPr>
              <a:spcBef>
                <a:spcPts val="200"/>
              </a:spcBef>
              <a:defRPr sz="900" b="1">
                <a:solidFill>
                  <a:srgbClr val="22D3EE"/>
                </a:solidFill>
              </a:defRPr>
            </a:pPr>
            <a:r>
              <a:t>STAGE 3: RESTORATION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Sanitized payload is forwarded to upstream LLM (e.g., GPT-4o, Claude).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Upstream replies containing placeholders (&lt;AADHAAR_1&gt;).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Restoration Engine replaces tokens with original values from ephemeral RAM mapping.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Ledger records metadata &amp; masked snippet only (0 raw PII stored in SQLite).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INDIAN-PII SHIELD  •  WEB FEATURE: OVERVIEW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Real-Time Telemetry &amp; Security Operations Dashboard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Answers the three core engineering questions: Is it working? How much was redacted? What happened recently?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151E2D"/>
          </a:solidFill>
          <a:ln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04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Dashboard Capabilities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FRONTEND TELEMETRY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Live Gateway Health Banner: Directly queries GET /health (8080 Active, Fail-Closed: Active).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One-Click Proxy Copy: Developer terminal shortcut copying base URL with timeout protection.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JSON Audit Export: Downloadable timestamped cryptographic audit ledger dump.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Four KPI Metric Cards: Total requests, PII entities stripped, average latency (ms), and gateway health.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Category Distribution: Real-time progress bars displaying percentage share across Aadhaar, PAN, UPI, Phone.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51E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Backend Contract Implementation</a:t>
            </a:r>
          </a:p>
          <a:p>
            <a:pPr>
              <a:spcBef>
                <a:spcPts val="200"/>
              </a:spcBef>
              <a:defRPr sz="900" b="1">
                <a:solidFill>
                  <a:srgbClr val="22D3EE"/>
                </a:solidFill>
              </a:defRPr>
            </a:pPr>
            <a:r>
              <a:t>ENGINEERING CONTRACT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Endpoint: GET /api/stats returns aggregate request counters and counts_by_type dictionary.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Defensive Parsing: Handled via validateStatsResponse in src/lib/api.ts to prevent crashes on malformed data.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Zero Fabricated Data: Every metric, card, and bar chart is grounded exclusively in verified API responses.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Recent Audit Activity Feed: Real-time window of the latest transactions directly from the SQLite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INDIAN-PII SHIELD  •  WEB FEATURE: PLAYGROUND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Interactive Live Redaction Sandbox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Side-by-side terminal workspace allowing security teams to inspect detection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151E2D"/>
          </a:solidFill>
          <a:ln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05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Left Panel: Inbound Prompt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INPUT WORKSPACE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Multiline Code Editor: Accepts complex multi-paragraph prompts with live character counter.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Synthetic Sample Trigger: Injects clearly labeled test prompt (Aadhaar, PAN, Phone, UPI, Address).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Clear Input Action: Resets input, entity spans, and output panels simultaneously.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Race-Guarded Request Handling: Uses AbortController to cancel stale in-flight execution runs.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UTF-8 Encoding &amp; Length Validation: Strict boundary checks before network transmission.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51E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Right Panel: Sanitized Output</a:t>
            </a:r>
          </a:p>
          <a:p>
            <a:pPr>
              <a:spcBef>
                <a:spcPts val="200"/>
              </a:spcBef>
              <a:defRPr sz="900" b="1">
                <a:solidFill>
                  <a:srgbClr val="22D3EE"/>
                </a:solidFill>
              </a:defRPr>
            </a:pPr>
            <a:r>
              <a:t>DIAGNOSTIC OUTPUT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Sanitized Upstream Payload: Exact string forwarded to upstream LLMs (e.g. &lt;PAN_1&gt;, &lt;AADHAAR_1&gt;).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One-Click Output Copy: Quick copy button with feedback confirmation.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Processing Overhead Telemetry: Real-time benchmark display for regex + contextual execution.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Category Badges: Color-coded tags indicating detected sovereign entity types.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Span Boundary Drawer: Exact character index ([start:end]), detector source, and confidence percentage.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INDIAN-PII SHIELD  •  WEB FEATURE: AUDIT LEDGER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Zero Raw PII Storage &amp; Cryptographic Audit Trail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Full compliance traceability for InfoSec teams without persisting sensitive customer information.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151E2D"/>
          </a:solidFill>
          <a:ln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06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Audit Table Features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AUDIT LOG VIEWER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Searchable Records: Real-time client-side filter across Request ID, timestamp, and entity type.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Configurable Limit: Selector for 25, 50, or 100 entries per fetch.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Safe Client Pagination: 15-item paging controls preventing DOM overload.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Monospace Audit Table: Displays Request ID, Timestamp (UTC), Stripped Entities, and Latency.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JSON Audit Export: Verified download via GET /api/ledger/export/json.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51E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Strict Privacy Boundary Rules</a:t>
            </a:r>
          </a:p>
          <a:p>
            <a:pPr>
              <a:spcBef>
                <a:spcPts val="200"/>
              </a:spcBef>
              <a:defRPr sz="900" b="1">
                <a:solidFill>
                  <a:srgbClr val="22D3EE"/>
                </a:solidFill>
              </a:defRPr>
            </a:pPr>
            <a:r>
              <a:t>SECURITY BOUNDARY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Zero Raw Prompt Persistence: SQLite table redaction_ledger only stores masked samples (&lt;PAN_1&gt;).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Untrusted Data Notice: Prominent boundary warning that masked_sample contains untrusted text.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Auto-Escaped Rendering: Rendered strictly via React text nodes (no dangerouslySetInnerHTML).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Ephemeral Salt Expiration: Token-to-original maps exist solely in RAM during active request transit.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INDIAN-PII SHIELD  •  WEB FEATURE: REGRESSION SUITE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Continuous Feedback &amp; Edge-Case Locking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Turns missed Hinglish entities or false negatives into permanent automated test assertions.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151E2D"/>
          </a:solidFill>
          <a:ln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07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Feedback Submission Workflow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HUMAN-IN-THE-LOOP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Synthetic Prompt Input: Security teams submit edge cases (e.g. spoken digits in Hindi or colloquial addresses).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Target Entity Dropdown: Supports Aadhaar, PAN, GSTIN, Phone, UPI, IFSC, Name, Address, Spoken Digits.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Context Note &amp; Rationale: Field explaining the dialectical nuance or edge-case reasoning.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Abort Guard: Dedicated AbortController prevents duplicate submissions or stuck loading states.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Success Receipt: Instant feedback banner displaying assigned test identifier.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51E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Automated CI Enforcement</a:t>
            </a:r>
          </a:p>
          <a:p>
            <a:pPr>
              <a:spcBef>
                <a:spcPts val="200"/>
              </a:spcBef>
              <a:defRPr sz="900" b="1">
                <a:solidFill>
                  <a:srgbClr val="22D3EE"/>
                </a:solidFill>
              </a:defRPr>
            </a:pPr>
            <a:r>
              <a:t>CI/CD AUTOMATION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Persisted to SQLite: Stored in regression_tests table with expected_spans_json schema.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CI Integration: Test cases are evaluated alongside unit tests to guarantee zero regressions in rule updates.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Verified Payload Contract: Follows exact POST /api/corrections contract without invented fields.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Community &amp; Organization Hardening: Allows enterprise teams to continuously customize entity coverage.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INDIAN-PII SHIELD  •  WEB FEATURES: API &amp; SETTINGS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Drop-In OpenAI Compatibility &amp; Governance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Seamless developer experience with 0-line SDK changes and verified security checklists.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151E2D"/>
          </a:solidFill>
          <a:ln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08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API Reference Directory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INTEGRATION WORKSPACE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Direct OpenAI Drop-In: Point openai.base_url = 'http://127.0.0.1:8080/v1' with zero code refactoring.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cURL Snippets: Ready-to-copy terminal commands demonstrating header passing and payload formatting.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Python OpenAI SDK Example: 0-line logic change integration snippet.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Verified Endpoint Directory: Paths and methods for completions, stats, preview, ledger, and 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51E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Settings &amp; Governance Checklist</a:t>
            </a:r>
          </a:p>
          <a:p>
            <a:pPr>
              <a:spcBef>
                <a:spcPts val="200"/>
              </a:spcBef>
              <a:defRPr sz="900" b="1">
                <a:solidFill>
                  <a:srgbClr val="22D3EE"/>
                </a:solidFill>
              </a:defRPr>
            </a:pPr>
            <a:r>
              <a:t>ENTERPRISE GOVERNANCE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Gateway Endpoint Bindings: Displays base URL, upstream target model, and fail-closed status.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Live Health Status: Displays verified status code from GET /health.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Security &amp; Checksum Assertions: Verhoeff algorithm, Modulo-36 check digits, in-memory salt mapping.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Zero Functional Placeholders: Only displays verified settings supported by the backend.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INDIAN-PII SHIELD  •  SCALABILITY &amp; PERFORMANCE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High-Throughput Enterprise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Benchmarked for ultra-low latency and scalable Kubernetes horizontal scaling.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151E2D"/>
          </a:solidFill>
          <a:ln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09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Latency Benchmarks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BENCHMARK VERIFIED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Regex + Checksum: ~0.4ms per request.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Context Model: ~3.2ms sliding window evaluation.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p95 Total Latency: 3.64ms added overhead.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Negligible impact on LLM streaming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Horizontal Scaling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K8S / CONTAINER READY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Stateless Proxy: Deployable as Kubernetes Ingress or sidecar container per service.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Distributed State: Ephemeral placeholder map can migrate to Redis Cluster for multi-instance reply routing.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Async FastAPI: Handles 2,500+ concurrent requests per worker node.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51E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Enterprise Security</a:t>
            </a:r>
          </a:p>
          <a:p>
            <a:pPr>
              <a:spcBef>
                <a:spcPts val="200"/>
              </a:spcBef>
              <a:defRPr sz="900" b="1">
                <a:solidFill>
                  <a:srgbClr val="22D3EE"/>
                </a:solidFill>
              </a:defRPr>
            </a:pPr>
            <a:r>
              <a:t>SOVEREIGN CLOUD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On-Premise / VPC: Runs entirely within customer network perimeter.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Access Token Auth: Rejects non-loopback calls lacking authorized Bearer token.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Fail-Closed: Guaranteed protection if upstream connection drops.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INDIAN-PII SHIELD  •  SUMMARY &amp; ROADMAP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Production-Ready Privacy Engineering Platform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Complete test verification, active hosting, and strategic enterprise extensions.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151E2D"/>
          </a:solidFill>
          <a:ln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51E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Current Verification Status</a:t>
            </a:r>
          </a:p>
          <a:p>
            <a:pPr>
              <a:spcBef>
                <a:spcPts val="200"/>
              </a:spcBef>
              <a:defRPr sz="900" b="1">
                <a:solidFill>
                  <a:srgbClr val="22D3EE"/>
                </a:solidFill>
              </a:defRPr>
            </a:pPr>
            <a:r>
              <a:t>VERIFICATION REPORT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14/14 Pytest Unit Tests Passing (Checksums, Detectors, Proxy, Verifier).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Benchmark Evaluation: 100% structured recall, 100% roundtrip correctness.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Vite Production Build Passing: 0 TypeScript or bundling errors.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Real Backend Health Check: GET /health verified active on port 8080.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Local Hosting Active: Dashboard running at http://127.0.0.1:5173.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5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Strategic Enterprise Roadmap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FORWARD ROADMAP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1. Multilingual Audio Masking: Whisper-based ASR pipeline to redact spoken Hindi/Tamil PII in voice agents.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2. Redis Ephemeral Store: Clustered placeholder storage for distributed streaming agent swarms.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3. Local Indian Embedding Model: Fine-tuned IndicBERT for ultra-low latency colloquial address detection.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 4. Enterprise RBAC: Role-based audit ledger access for InfoSec and Compliance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